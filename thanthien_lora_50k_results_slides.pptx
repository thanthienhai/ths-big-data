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Số mẫu</c:v>
                </c:pt>
              </c:strCache>
            </c:strRef>
          </c:tx>
          <c:spPr>
            <a:solidFill>
              <a:srgbClr val="30968E"/>
            </a:solidFill>
          </c:spPr>
          <c:invertIfNegative val="1"/>
          <c:dLbls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5000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E41F-40DB-9589-E3CA79519ED0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5000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E41F-40DB-9589-E3CA79519ED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Train</c:v>
                </c:pt>
                <c:pt idx="1">
                  <c:v>Validation</c:v>
                </c:pt>
                <c:pt idx="2">
                  <c:v>Test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39988</c:v>
                </c:pt>
                <c:pt idx="1">
                  <c:v>4999</c:v>
                </c:pt>
                <c:pt idx="2">
                  <c:v>4999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41F-40DB-9589-E3CA79519ED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2000"/>
        </c:scaling>
        <c:delete val="0"/>
        <c:axPos val="l"/>
        <c:majorGridlines>
          <c:spPr>
            <a:ln>
              <a:solidFill>
                <a:srgbClr val="DCE2EB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Qwen3 gốc</c:v>
                </c:pt>
              </c:strCache>
            </c:strRef>
          </c:tx>
          <c:spPr>
            <a:solidFill>
              <a:srgbClr val="2C7BB6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EM</c:v>
                </c:pt>
                <c:pt idx="1">
                  <c:v>Token F1</c:v>
                </c:pt>
                <c:pt idx="2">
                  <c:v>ROUGE-L</c:v>
                </c:pt>
                <c:pt idx="3">
                  <c:v>BERTScore F1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0.214</c:v>
                </c:pt>
                <c:pt idx="1">
                  <c:v>0.61199999999999999</c:v>
                </c:pt>
                <c:pt idx="2">
                  <c:v>0.54800000000000004</c:v>
                </c:pt>
                <c:pt idx="3">
                  <c:v>0.74199999999999999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1A9-47F8-A656-D4F7E46794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Qwen3 LoRA 50k</c:v>
                </c:pt>
              </c:strCache>
            </c:strRef>
          </c:tx>
          <c:spPr>
            <a:solidFill>
              <a:srgbClr val="4B9C57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EM</c:v>
                </c:pt>
                <c:pt idx="1">
                  <c:v>Token F1</c:v>
                </c:pt>
                <c:pt idx="2">
                  <c:v>ROUGE-L</c:v>
                </c:pt>
                <c:pt idx="3">
                  <c:v>BERTScore F1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0.23799999999999999</c:v>
                </c:pt>
                <c:pt idx="1">
                  <c:v>0.64700000000000002</c:v>
                </c:pt>
                <c:pt idx="2">
                  <c:v>0.57499999999999996</c:v>
                </c:pt>
                <c:pt idx="3">
                  <c:v>0.76300000000000001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31A9-47F8-A656-D4F7E46794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85"/>
          <c:min val="0"/>
        </c:scaling>
        <c:delete val="0"/>
        <c:axPos val="l"/>
        <c:majorGridlines>
          <c:spPr>
            <a:ln>
              <a:solidFill>
                <a:srgbClr val="DCE2EB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Qwen3 gốc</c:v>
                </c:pt>
              </c:strCache>
            </c:strRef>
          </c:tx>
          <c:spPr>
            <a:solidFill>
              <a:srgbClr val="2C7BB6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Unsupported claim ↓</c:v>
                </c:pt>
                <c:pt idx="1">
                  <c:v>Citation overlap</c:v>
                </c:pt>
                <c:pt idx="2">
                  <c:v>Latency (s)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0.184</c:v>
                </c:pt>
                <c:pt idx="1">
                  <c:v>0.503</c:v>
                </c:pt>
                <c:pt idx="2">
                  <c:v>0.92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D7F-46AB-BE58-EC3BB699C90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Qwen3 LoRA 50k</c:v>
                </c:pt>
              </c:strCache>
            </c:strRef>
          </c:tx>
          <c:spPr>
            <a:solidFill>
              <a:srgbClr val="30968E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Unsupported claim ↓</c:v>
                </c:pt>
                <c:pt idx="1">
                  <c:v>Citation overlap</c:v>
                </c:pt>
                <c:pt idx="2">
                  <c:v>Latency (s)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0.16500000000000001</c:v>
                </c:pt>
                <c:pt idx="1">
                  <c:v>0.53</c:v>
                </c:pt>
                <c:pt idx="2">
                  <c:v>0.96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DD7F-46AB-BE58-EC3BB699C9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05"/>
        </c:scaling>
        <c:delete val="0"/>
        <c:axPos val="b"/>
        <c:majorGridlines>
          <c:spPr>
            <a:ln>
              <a:solidFill>
                <a:srgbClr val="DCE2EB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800" b="1">
                <a:solidFill>
                  <a:srgbClr val="142E49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Fine-tuning Qwen3-4B cho phản hồi pháp luật Việt Nam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07008"/>
            <a:ext cx="987552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0">
                <a:solidFill>
                  <a:srgbClr val="5C697A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50k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YuITC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/Vietnamese-Legal-Documents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01952"/>
            <a:ext cx="228600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0392" y="2048256"/>
            <a:ext cx="1956816" cy="2539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5C697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Mẫu train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313432"/>
            <a:ext cx="1956816" cy="44627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300" b="1">
                <a:solidFill>
                  <a:srgbClr val="30968E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39.988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761488"/>
            <a:ext cx="1956816" cy="23852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50" b="0">
                <a:solidFill>
                  <a:srgbClr val="5C697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80% split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901952"/>
            <a:ext cx="228600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10712" y="2048256"/>
            <a:ext cx="1956816" cy="2539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5C697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Mẫu đánh giá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2313432"/>
            <a:ext cx="1956816" cy="44627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300" b="1">
                <a:solidFill>
                  <a:srgbClr val="2C7BB6"/>
                </a:solidFill>
                <a:latin typeface="Aptos"/>
              </a:defRPr>
            </a:pP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10712" y="2761488"/>
            <a:ext cx="1956816" cy="23852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50" b="0">
                <a:solidFill>
                  <a:srgbClr val="5C697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test set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1901952"/>
            <a:ext cx="228600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71031" y="2048256"/>
            <a:ext cx="1956816" cy="2539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5C697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Tham số cập nhật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1031" y="2313432"/>
            <a:ext cx="1956816" cy="44627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300" b="1">
                <a:solidFill>
                  <a:srgbClr val="E2A44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1,62%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71031" y="2761488"/>
            <a:ext cx="1956816" cy="23852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50" b="0">
                <a:solidFill>
                  <a:srgbClr val="5C697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66,06M / 4,09B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1901952"/>
            <a:ext cx="228600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531352" y="2048256"/>
            <a:ext cx="1956816" cy="2539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5C697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Token F1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1352" y="2313432"/>
            <a:ext cx="1956816" cy="44627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300" b="1">
                <a:solidFill>
                  <a:srgbClr val="4B9C5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0,647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1352" y="2761488"/>
            <a:ext cx="1956816" cy="23852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50" b="0">
                <a:solidFill>
                  <a:srgbClr val="5C697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+0,035 so với gốc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703320"/>
            <a:ext cx="9966960" cy="2496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60120" y="3886200"/>
            <a:ext cx="9326880" cy="32316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42E49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Thông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điệp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60120" y="4279392"/>
            <a:ext cx="9235440" cy="9182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202A36"/>
                </a:solidFill>
                <a:latin typeface="Aptos"/>
              </a:defRPr>
            </a:pP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50k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cải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thiện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quán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EM, Token F1, ROUGE-L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BERTScore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F1.</a:t>
            </a:r>
          </a:p>
          <a:p>
            <a:pPr>
              <a:spcAft>
                <a:spcPts val="700"/>
              </a:spcAft>
              <a:defRPr sz="1220">
                <a:solidFill>
                  <a:srgbClr val="202A36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Unsupported claim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0,184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xuống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0,165; citation overlap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0,503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0,530.</a:t>
            </a:r>
          </a:p>
          <a:p>
            <a:pPr>
              <a:spcAft>
                <a:spcPts val="700"/>
              </a:spcAft>
              <a:defRPr sz="1220">
                <a:solidFill>
                  <a:srgbClr val="202A36"/>
                </a:solidFill>
                <a:latin typeface="Aptos"/>
              </a:defRPr>
            </a:pP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weak label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context_list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full fine-tuning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500" b="1">
                <a:solidFill>
                  <a:srgbClr val="142E49"/>
                </a:solidFill>
                <a:latin typeface="Aptos Display"/>
              </a:defRPr>
            </a:pPr>
            <a:r>
              <a:t>Dữ liệu và cấu hình train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86384"/>
            <a:ext cx="3925113" cy="26161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100">
                <a:solidFill>
                  <a:srgbClr val="5C697A"/>
                </a:solidFill>
                <a:latin typeface="Aptos"/>
              </a:defRPr>
            </a:pPr>
            <a:r>
              <a:rPr dirty="0"/>
              <a:t>Output train: thanthien_50k_lora_finetune_20260522T100416Z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552817"/>
              </p:ext>
            </p:extLst>
          </p:nvPr>
        </p:nvGraphicFramePr>
        <p:xfrm>
          <a:off x="685800" y="1417320"/>
          <a:ext cx="507492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4645152"/>
            <a:ext cx="498348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050" b="0">
                <a:solidFill>
                  <a:srgbClr val="5C697A"/>
                </a:solidFill>
                <a:latin typeface="Aptos"/>
              </a:defRPr>
            </a:pPr>
            <a:r>
              <a:t>49.986 mẫu (56% dữ liệu khả dụng), random split 80/10/10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25880"/>
            <a:ext cx="5349240" cy="3703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572768"/>
            <a:ext cx="484632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600" b="1">
                <a:solidFill>
                  <a:srgbClr val="142E49"/>
                </a:solidFill>
                <a:latin typeface="Aptos"/>
              </a:defRPr>
            </a:pPr>
            <a:r>
              <a:t>Cấu hình LoRA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993392"/>
            <a:ext cx="4800600" cy="217495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202A36"/>
                </a:solidFill>
                <a:latin typeface="Aptos"/>
              </a:defRPr>
            </a:pPr>
            <a:r>
              <a:rPr sz="1400" dirty="0"/>
              <a:t>Base model: Qwen/Qwen3-4B-Instruct-2507</a:t>
            </a:r>
          </a:p>
          <a:p>
            <a:pPr>
              <a:spcAft>
                <a:spcPts val="700"/>
              </a:spcAft>
              <a:defRPr sz="1150">
                <a:solidFill>
                  <a:srgbClr val="202A36"/>
                </a:solidFill>
                <a:latin typeface="Aptos"/>
              </a:defRPr>
            </a:pPr>
            <a:r>
              <a:rPr sz="1400" dirty="0" err="1"/>
              <a:t>LoRA</a:t>
            </a:r>
            <a:r>
              <a:rPr sz="1400" dirty="0"/>
              <a:t>: rank 32, alpha 64, dropout 0,05</a:t>
            </a:r>
          </a:p>
          <a:p>
            <a:pPr>
              <a:spcAft>
                <a:spcPts val="700"/>
              </a:spcAft>
              <a:defRPr sz="1150">
                <a:solidFill>
                  <a:srgbClr val="202A36"/>
                </a:solidFill>
                <a:latin typeface="Aptos"/>
              </a:defRPr>
            </a:pPr>
            <a:r>
              <a:rPr sz="1400" dirty="0"/>
              <a:t>Target modules: </a:t>
            </a:r>
            <a:r>
              <a:rPr sz="1400" dirty="0" err="1"/>
              <a:t>q_proj</a:t>
            </a:r>
            <a:r>
              <a:rPr sz="1400" dirty="0"/>
              <a:t>, </a:t>
            </a:r>
            <a:r>
              <a:rPr sz="1400" dirty="0" err="1"/>
              <a:t>k_proj</a:t>
            </a:r>
            <a:r>
              <a:rPr sz="1400" dirty="0"/>
              <a:t>, </a:t>
            </a:r>
            <a:r>
              <a:rPr sz="1400" dirty="0" err="1"/>
              <a:t>v_proj</a:t>
            </a:r>
            <a:r>
              <a:rPr sz="1400" dirty="0"/>
              <a:t>, </a:t>
            </a:r>
            <a:r>
              <a:rPr sz="1400" dirty="0" err="1"/>
              <a:t>o_proj</a:t>
            </a:r>
            <a:r>
              <a:rPr sz="1400" dirty="0"/>
              <a:t>, </a:t>
            </a:r>
            <a:r>
              <a:rPr sz="1400" dirty="0" err="1"/>
              <a:t>gate_proj</a:t>
            </a:r>
            <a:r>
              <a:rPr sz="1400" dirty="0"/>
              <a:t>, </a:t>
            </a:r>
            <a:r>
              <a:rPr sz="1400" dirty="0" err="1"/>
              <a:t>up_proj</a:t>
            </a:r>
            <a:r>
              <a:rPr sz="1400" dirty="0"/>
              <a:t>, </a:t>
            </a:r>
            <a:r>
              <a:rPr sz="1400" dirty="0" err="1"/>
              <a:t>down_proj</a:t>
            </a:r>
            <a:endParaRPr sz="1400" dirty="0"/>
          </a:p>
          <a:p>
            <a:pPr>
              <a:spcAft>
                <a:spcPts val="700"/>
              </a:spcAft>
              <a:defRPr sz="1150">
                <a:solidFill>
                  <a:srgbClr val="202A36"/>
                </a:solidFill>
                <a:latin typeface="Aptos"/>
              </a:defRPr>
            </a:pPr>
            <a:r>
              <a:rPr sz="1400" dirty="0"/>
              <a:t>Epochs: 1; learning rate: 2e-4; weight decay: 0,01; warmup ratio: 0,03</a:t>
            </a:r>
          </a:p>
          <a:p>
            <a:pPr>
              <a:spcAft>
                <a:spcPts val="700"/>
              </a:spcAft>
              <a:defRPr sz="1150">
                <a:solidFill>
                  <a:srgbClr val="202A36"/>
                </a:solidFill>
                <a:latin typeface="Aptos"/>
              </a:defRPr>
            </a:pPr>
            <a:r>
              <a:rPr sz="1400" dirty="0"/>
              <a:t>2 x NVIDIA H200; bf16; batch </a:t>
            </a:r>
            <a:r>
              <a:rPr sz="1400" dirty="0" err="1"/>
              <a:t>hiệu</a:t>
            </a:r>
            <a:r>
              <a:rPr sz="1400" dirty="0"/>
              <a:t> </a:t>
            </a:r>
            <a:r>
              <a:rPr sz="1400" dirty="0" err="1"/>
              <a:t>dụng</a:t>
            </a:r>
            <a:r>
              <a:rPr sz="1400" dirty="0"/>
              <a:t> 16; max sequence length 2048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500" b="1">
                <a:solidFill>
                  <a:srgbClr val="142E49"/>
                </a:solidFill>
                <a:latin typeface="Aptos Display"/>
              </a:defRPr>
            </a:pPr>
            <a:r>
              <a:t>So sánh chỉ số tự động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86384"/>
            <a:ext cx="10515600" cy="29260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100">
                <a:solidFill>
                  <a:srgbClr val="5C697A"/>
                </a:solidFill>
                <a:latin typeface="Aptos"/>
              </a:defRPr>
            </a:pPr>
            <a:r>
              <a:t>LoRA 50k so với Qwen3 gốc trên cùng tập test 4.999 mẫu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1325880"/>
          <a:ext cx="649224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571231" y="1463040"/>
            <a:ext cx="3794760" cy="3886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45552" y="1737360"/>
            <a:ext cx="32461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42E49"/>
                </a:solidFill>
                <a:latin typeface="Aptos"/>
              </a:defRPr>
            </a:pPr>
            <a:r>
              <a:t>Mức cải thiện tuyệt đối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45552" y="2212848"/>
            <a:ext cx="150876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10144" y="2359152"/>
            <a:ext cx="1179576" cy="210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5C697A"/>
                </a:solidFill>
                <a:latin typeface="Aptos"/>
              </a:defRPr>
            </a:pPr>
            <a:r>
              <a:t>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0144" y="2624328"/>
            <a:ext cx="1179576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300" b="1">
                <a:solidFill>
                  <a:srgbClr val="4B9C57"/>
                </a:solidFill>
                <a:latin typeface="Aptos"/>
              </a:defRPr>
            </a:pPr>
            <a:r>
              <a:t>+0,024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91472" y="2212848"/>
            <a:ext cx="150876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56064" y="2359152"/>
            <a:ext cx="1179576" cy="210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5C697A"/>
                </a:solidFill>
                <a:latin typeface="Aptos"/>
              </a:defRPr>
            </a:pPr>
            <a:r>
              <a:t>Token 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6064" y="2624328"/>
            <a:ext cx="1179576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300" b="1">
                <a:solidFill>
                  <a:srgbClr val="4B9C57"/>
                </a:solidFill>
                <a:latin typeface="Aptos"/>
              </a:defRPr>
            </a:pPr>
            <a:r>
              <a:t>+0,035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45552" y="3337560"/>
            <a:ext cx="150876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10144" y="3483864"/>
            <a:ext cx="1179576" cy="210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5C697A"/>
                </a:solidFill>
                <a:latin typeface="Aptos"/>
              </a:defRPr>
            </a:pPr>
            <a:r>
              <a:t>ROUGE-L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0144" y="3749039"/>
            <a:ext cx="1179576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300" b="1">
                <a:solidFill>
                  <a:srgbClr val="4B9C57"/>
                </a:solidFill>
                <a:latin typeface="Aptos"/>
              </a:defRPr>
            </a:pPr>
            <a:r>
              <a:t>+0,027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91472" y="3337560"/>
            <a:ext cx="150876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56064" y="3483864"/>
            <a:ext cx="1179576" cy="210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5C697A"/>
                </a:solidFill>
                <a:latin typeface="Aptos"/>
              </a:defRPr>
            </a:pPr>
            <a:r>
              <a:t>BERTScore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4" y="3749039"/>
            <a:ext cx="1179576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300" b="1">
                <a:solidFill>
                  <a:srgbClr val="4B9C57"/>
                </a:solidFill>
                <a:latin typeface="Aptos"/>
              </a:defRPr>
            </a:pPr>
            <a:r>
              <a:t>+0,021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2127" y="4498848"/>
            <a:ext cx="3182112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60" b="0">
                <a:solidFill>
                  <a:srgbClr val="5C697A"/>
                </a:solidFill>
                <a:latin typeface="Aptos"/>
              </a:defRPr>
            </a:pPr>
            <a:r>
              <a:t>Cải thiện lớn nhất nằm ở token F1, cho thấy câu trả lời gần hơn với nhãn tham chiếu ở mức nội dung token.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500" b="1">
                <a:solidFill>
                  <a:srgbClr val="142E49"/>
                </a:solidFill>
                <a:latin typeface="Aptos Display"/>
              </a:defRPr>
            </a:pPr>
            <a:r>
              <a:t>Tác động về an toàn và trích dẫn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86384"/>
            <a:ext cx="10515600" cy="29260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100">
                <a:solidFill>
                  <a:srgbClr val="5C697A"/>
                </a:solidFill>
                <a:latin typeface="Aptos"/>
              </a:defRPr>
            </a:pPr>
            <a:r>
              <a:t>Các chỉ số vận hành bổ sung từ metrics.json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58368" y="1353312"/>
          <a:ext cx="653796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635240" y="1444752"/>
            <a:ext cx="352044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99831" y="1591056"/>
            <a:ext cx="3191256" cy="210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5C697A"/>
                </a:solidFill>
                <a:latin typeface="Aptos"/>
              </a:defRPr>
            </a:pPr>
            <a:r>
              <a:t>Unsupported claim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99831" y="1856232"/>
            <a:ext cx="3191256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300" b="1">
                <a:solidFill>
                  <a:srgbClr val="4B9C57"/>
                </a:solidFill>
                <a:latin typeface="Aptos"/>
              </a:defRPr>
            </a:pPr>
            <a:r>
              <a:t>0,184 → 0,165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9831" y="2304288"/>
            <a:ext cx="319125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50" b="0">
                <a:solidFill>
                  <a:srgbClr val="5C697A"/>
                </a:solidFill>
                <a:latin typeface="Aptos"/>
              </a:defRPr>
            </a:pPr>
            <a:r>
              <a:t>giảm 10,3% tương đối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743200"/>
            <a:ext cx="352044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99831" y="2889504"/>
            <a:ext cx="3191256" cy="210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5C697A"/>
                </a:solidFill>
                <a:latin typeface="Aptos"/>
              </a:defRPr>
            </a:pPr>
            <a:r>
              <a:t>Citation overlap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9831" y="3154680"/>
            <a:ext cx="3191256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300" b="1">
                <a:solidFill>
                  <a:srgbClr val="4B9C57"/>
                </a:solidFill>
                <a:latin typeface="Aptos"/>
              </a:defRPr>
            </a:pPr>
            <a:r>
              <a:t>0,503 → 0,530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9831" y="3602736"/>
            <a:ext cx="319125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50" b="0">
                <a:solidFill>
                  <a:srgbClr val="5C697A"/>
                </a:solidFill>
                <a:latin typeface="Aptos"/>
              </a:defRPr>
            </a:pPr>
            <a:r>
              <a:t>tăng 5,4% tương đối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4041648"/>
            <a:ext cx="352044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99831" y="4187952"/>
            <a:ext cx="3191256" cy="210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5C697A"/>
                </a:solidFill>
                <a:latin typeface="Aptos"/>
              </a:defRPr>
            </a:pPr>
            <a:r>
              <a:t>Latency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9831" y="4453128"/>
            <a:ext cx="3191256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300" b="1">
                <a:solidFill>
                  <a:srgbClr val="E2A448"/>
                </a:solidFill>
                <a:latin typeface="Aptos"/>
              </a:defRPr>
            </a:pPr>
            <a:r>
              <a:t>0,92s → 0,96s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9831" y="4901183"/>
            <a:ext cx="319125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50" b="0">
                <a:solidFill>
                  <a:srgbClr val="5C697A"/>
                </a:solidFill>
                <a:latin typeface="Aptos"/>
              </a:defRPr>
            </a:pPr>
            <a:r>
              <a:t>tăng nhẹ 0,04s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500" b="1">
                <a:solidFill>
                  <a:srgbClr val="142E49"/>
                </a:solidFill>
                <a:latin typeface="Aptos Display"/>
              </a:defRPr>
            </a:pPr>
            <a:r>
              <a:t>Kết luận trình bày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520440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29260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600" b="1">
                <a:solidFill>
                  <a:srgbClr val="142E49"/>
                </a:solidFill>
                <a:latin typeface="Aptos"/>
              </a:defRPr>
            </a:pPr>
            <a:r>
              <a:t>Kết quả chính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48256"/>
            <a:ext cx="2834640" cy="2606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202A36"/>
                </a:solidFill>
                <a:latin typeface="Aptos"/>
              </a:defRPr>
            </a:pPr>
            <a:r>
              <a:rPr dirty="0" err="1"/>
              <a:t>Tập</a:t>
            </a:r>
            <a:r>
              <a:rPr dirty="0"/>
              <a:t> train 39.988 </a:t>
            </a:r>
            <a:r>
              <a:rPr dirty="0" err="1"/>
              <a:t>mẫu</a:t>
            </a:r>
            <a:r>
              <a:rPr dirty="0"/>
              <a:t>, test 4.999 </a:t>
            </a:r>
            <a:r>
              <a:rPr dirty="0" err="1"/>
              <a:t>mẫu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200">
                <a:solidFill>
                  <a:srgbClr val="202A36"/>
                </a:solidFill>
                <a:latin typeface="Aptos"/>
              </a:defRPr>
            </a:pPr>
            <a:r>
              <a:rPr dirty="0" err="1"/>
              <a:t>LoRA</a:t>
            </a:r>
            <a:r>
              <a:rPr dirty="0"/>
              <a:t> </a:t>
            </a:r>
            <a:r>
              <a:rPr dirty="0" err="1"/>
              <a:t>cải</a:t>
            </a:r>
            <a:r>
              <a:rPr dirty="0"/>
              <a:t> </a:t>
            </a:r>
            <a:r>
              <a:rPr dirty="0" err="1"/>
              <a:t>thiện</a:t>
            </a:r>
            <a:r>
              <a:rPr dirty="0"/>
              <a:t> </a:t>
            </a:r>
            <a:r>
              <a:rPr dirty="0" err="1"/>
              <a:t>cả</a:t>
            </a:r>
            <a:r>
              <a:rPr dirty="0"/>
              <a:t> 4 </a:t>
            </a: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200">
                <a:solidFill>
                  <a:srgbClr val="202A36"/>
                </a:solidFill>
                <a:latin typeface="Aptos"/>
              </a:defRPr>
            </a:pPr>
            <a:r>
              <a:rPr dirty="0"/>
              <a:t>Unsupported claim </a:t>
            </a:r>
            <a:r>
              <a:rPr dirty="0" err="1"/>
              <a:t>giảm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citation overlap </a:t>
            </a:r>
            <a:r>
              <a:rPr dirty="0" err="1"/>
              <a:t>tăng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200">
                <a:solidFill>
                  <a:srgbClr val="202A36"/>
                </a:solidFill>
                <a:latin typeface="Aptos"/>
              </a:defRPr>
            </a:pPr>
            <a:r>
              <a:rPr dirty="0"/>
              <a:t>Chi </a:t>
            </a:r>
            <a:r>
              <a:rPr dirty="0" err="1"/>
              <a:t>phí</a:t>
            </a:r>
            <a:r>
              <a:rPr dirty="0"/>
              <a:t> inference </a:t>
            </a:r>
            <a:r>
              <a:rPr dirty="0" err="1"/>
              <a:t>tăng</a:t>
            </a:r>
            <a:r>
              <a:rPr dirty="0"/>
              <a:t> </a:t>
            </a:r>
            <a:r>
              <a:rPr dirty="0" err="1"/>
              <a:t>nhẹ</a:t>
            </a:r>
            <a:r>
              <a:rPr dirty="0"/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325880"/>
            <a:ext cx="3520440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1627632"/>
            <a:ext cx="29260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600" b="1">
                <a:solidFill>
                  <a:srgbClr val="142E49"/>
                </a:solidFill>
                <a:latin typeface="Aptos"/>
              </a:defRPr>
            </a:pPr>
            <a:r>
              <a:t>Cần nói rõ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048256"/>
            <a:ext cx="2880360" cy="2606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202A36"/>
                </a:solidFill>
                <a:latin typeface="Aptos"/>
              </a:defRPr>
            </a:pPr>
            <a:r>
              <a:t>Đây là LoRA, chưa phải full fine-tuning toàn phần.</a:t>
            </a:r>
          </a:p>
          <a:p>
            <a:pPr>
              <a:spcAft>
                <a:spcPts val="700"/>
              </a:spcAft>
              <a:defRPr sz="1200">
                <a:solidFill>
                  <a:srgbClr val="202A36"/>
                </a:solidFill>
                <a:latin typeface="Aptos"/>
              </a:defRPr>
            </a:pPr>
            <a:r>
              <a:t>Nhãn được suy ra từ context_list, chưa phải answer chuyên gia.</a:t>
            </a:r>
          </a:p>
          <a:p>
            <a:pPr>
              <a:spcAft>
                <a:spcPts val="700"/>
              </a:spcAft>
              <a:defRPr sz="1200">
                <a:solidFill>
                  <a:srgbClr val="202A36"/>
                </a:solidFill>
                <a:latin typeface="Aptos"/>
              </a:defRPr>
            </a:pPr>
            <a:r>
              <a:t>Split hiện là random split, chưa grouped theo văn bản nguồn.</a:t>
            </a:r>
          </a:p>
          <a:p>
            <a:pPr>
              <a:spcAft>
                <a:spcPts val="700"/>
              </a:spcAft>
              <a:defRPr sz="1200">
                <a:solidFill>
                  <a:srgbClr val="202A36"/>
                </a:solidFill>
                <a:latin typeface="Aptos"/>
              </a:defRPr>
            </a:pPr>
            <a:r>
              <a:t>Legal correctness thủ công chưa có.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325880"/>
            <a:ext cx="3063240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49640" y="1627632"/>
            <a:ext cx="24688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600" b="1">
                <a:solidFill>
                  <a:srgbClr val="142E49"/>
                </a:solidFill>
                <a:latin typeface="Aptos"/>
              </a:defRPr>
            </a:pPr>
            <a:r>
              <a:t>Bước tiếp theo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048256"/>
            <a:ext cx="2377440" cy="2606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202A36"/>
                </a:solidFill>
                <a:latin typeface="Aptos"/>
              </a:defRPr>
            </a:pPr>
            <a:r>
              <a:t>Chạy grouped split theo nguồn văn bản.</a:t>
            </a:r>
          </a:p>
          <a:p>
            <a:pPr>
              <a:spcAft>
                <a:spcPts val="700"/>
              </a:spcAft>
              <a:defRPr sz="1200">
                <a:solidFill>
                  <a:srgbClr val="202A36"/>
                </a:solidFill>
                <a:latin typeface="Aptos"/>
              </a:defRPr>
            </a:pPr>
            <a:r>
              <a:t>Bổ sung chấm legal correctness và citation accuracy.</a:t>
            </a:r>
          </a:p>
          <a:p>
            <a:pPr>
              <a:spcAft>
                <a:spcPts val="700"/>
              </a:spcAft>
              <a:defRPr sz="1200">
                <a:solidFill>
                  <a:srgbClr val="202A36"/>
                </a:solidFill>
                <a:latin typeface="Aptos"/>
              </a:defRPr>
            </a:pPr>
            <a:r>
              <a:t>So sánh thêm B4-B6 khi có output.</a:t>
            </a:r>
          </a:p>
          <a:p>
            <a:pPr>
              <a:spcAft>
                <a:spcPts val="700"/>
              </a:spcAft>
              <a:defRPr sz="1200">
                <a:solidFill>
                  <a:srgbClr val="202A36"/>
                </a:solidFill>
                <a:latin typeface="Aptos"/>
              </a:defRPr>
            </a:pPr>
            <a:r>
              <a:t>Cập nhật kết luận cho full fine-tuning nếu chạy toàn phần.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461</Words>
  <Application>Microsoft Office PowerPoint</Application>
  <PresentationFormat>Widescreen</PresentationFormat>
  <Paragraphs>71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Thân Ngọc Thiện</cp:lastModifiedBy>
  <cp:revision>7</cp:revision>
  <dcterms:created xsi:type="dcterms:W3CDTF">2013-01-27T09:14:16Z</dcterms:created>
  <dcterms:modified xsi:type="dcterms:W3CDTF">2026-05-22T10:27:05Z</dcterms:modified>
  <cp:category/>
</cp:coreProperties>
</file>